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roxima Nova Heavy" charset="1" panose="02000506030000020004"/>
      <p:regular r:id="rId16"/>
    </p:embeddedFont>
    <p:embeddedFont>
      <p:font typeface="Proxima Nova" charset="1" panose="02000506030000020004"/>
      <p:regular r:id="rId17"/>
    </p:embeddedFont>
    <p:embeddedFont>
      <p:font typeface="Proxima Nova Bold" charset="1" panose="02000506030000020004"/>
      <p:regular r:id="rId18"/>
    </p:embeddedFont>
    <p:embeddedFont>
      <p:font typeface="Raleway Bold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3.png" Type="http://schemas.openxmlformats.org/officeDocument/2006/relationships/image"/><Relationship Id="rId5" Target="../media/image1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3.png" Type="http://schemas.openxmlformats.org/officeDocument/2006/relationships/image"/><Relationship Id="rId5" Target="../media/image1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22508" y="2936219"/>
            <a:ext cx="11873584" cy="7858154"/>
          </a:xfrm>
          <a:custGeom>
            <a:avLst/>
            <a:gdLst/>
            <a:ahLst/>
            <a:cxnLst/>
            <a:rect r="r" b="b" t="t" l="l"/>
            <a:pathLst>
              <a:path h="7858154" w="11873584">
                <a:moveTo>
                  <a:pt x="0" y="0"/>
                </a:moveTo>
                <a:lnTo>
                  <a:pt x="11873584" y="0"/>
                </a:lnTo>
                <a:lnTo>
                  <a:pt x="11873584" y="7858154"/>
                </a:lnTo>
                <a:lnTo>
                  <a:pt x="0" y="7858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69654" y="-734700"/>
            <a:ext cx="1660777" cy="1469400"/>
            <a:chOff x="0" y="0"/>
            <a:chExt cx="437406" cy="3870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414973" y="-734700"/>
            <a:ext cx="489701" cy="1469400"/>
            <a:chOff x="0" y="0"/>
            <a:chExt cx="128975" cy="3870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490356" y="2049802"/>
            <a:ext cx="2354701" cy="2583807"/>
          </a:xfrm>
          <a:custGeom>
            <a:avLst/>
            <a:gdLst/>
            <a:ahLst/>
            <a:cxnLst/>
            <a:rect r="r" b="b" t="t" l="l"/>
            <a:pathLst>
              <a:path h="2583807" w="2354701">
                <a:moveTo>
                  <a:pt x="0" y="0"/>
                </a:moveTo>
                <a:lnTo>
                  <a:pt x="2354701" y="0"/>
                </a:lnTo>
                <a:lnTo>
                  <a:pt x="2354701" y="2583807"/>
                </a:lnTo>
                <a:lnTo>
                  <a:pt x="0" y="25838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668583" y="1179309"/>
            <a:ext cx="3590717" cy="502453"/>
          </a:xfrm>
          <a:custGeom>
            <a:avLst/>
            <a:gdLst/>
            <a:ahLst/>
            <a:cxnLst/>
            <a:rect r="r" b="b" t="t" l="l"/>
            <a:pathLst>
              <a:path h="502453" w="3590717">
                <a:moveTo>
                  <a:pt x="0" y="0"/>
                </a:moveTo>
                <a:lnTo>
                  <a:pt x="3590717" y="0"/>
                </a:lnTo>
                <a:lnTo>
                  <a:pt x="3590717" y="502453"/>
                </a:lnTo>
                <a:lnTo>
                  <a:pt x="0" y="5024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597" t="-221209" r="0" b="-214895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69654" y="3106533"/>
            <a:ext cx="6905153" cy="1923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65"/>
              </a:lnSpc>
            </a:pPr>
            <a:r>
              <a:rPr lang="en-US" b="true" sz="13967">
                <a:solidFill>
                  <a:srgbClr val="0CC0D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LANE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59823" y="4681234"/>
            <a:ext cx="6926189" cy="464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sz="3364">
                <a:solidFill>
                  <a:srgbClr val="8C52FF"/>
                </a:solidFill>
                <a:latin typeface="Proxima Nova"/>
                <a:ea typeface="Proxima Nova"/>
                <a:cs typeface="Proxima Nova"/>
                <a:sym typeface="Proxima Nova"/>
              </a:rPr>
              <a:t>A tua rota para os melhores eventos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170FF">
                <a:alpha val="100000"/>
              </a:srgbClr>
            </a:gs>
            <a:gs pos="100000">
              <a:srgbClr val="FF66C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05061" y="4632643"/>
            <a:ext cx="7338939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30"/>
              </a:lnSpc>
              <a:spcBef>
                <a:spcPct val="0"/>
              </a:spcBef>
            </a:pPr>
            <a:r>
              <a:rPr lang="en-US" b="true" sz="6500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ÍNDICE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65705" y="5966644"/>
            <a:ext cx="4872081" cy="306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1 - Introdução</a:t>
            </a:r>
          </a:p>
          <a:p>
            <a:pPr algn="l">
              <a:lnSpc>
                <a:spcPts val="4060"/>
              </a:lnSpc>
            </a:pPr>
            <a:r>
              <a:rPr lang="en-US" sz="29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2 - Arquitetura</a:t>
            </a:r>
          </a:p>
          <a:p>
            <a:pPr algn="l">
              <a:lnSpc>
                <a:spcPts val="4060"/>
              </a:lnSpc>
            </a:pPr>
            <a:r>
              <a:rPr lang="en-US" sz="29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3 - Desenvolvimento</a:t>
            </a:r>
          </a:p>
          <a:p>
            <a:pPr algn="l">
              <a:lnSpc>
                <a:spcPts val="4060"/>
              </a:lnSpc>
            </a:pPr>
            <a:r>
              <a:rPr lang="en-US" sz="29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4 - Interfaces</a:t>
            </a:r>
          </a:p>
          <a:p>
            <a:pPr algn="l">
              <a:lnSpc>
                <a:spcPts val="4060"/>
              </a:lnSpc>
            </a:pPr>
            <a:r>
              <a:rPr lang="en-US" sz="29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5 - Personas</a:t>
            </a:r>
          </a:p>
          <a:p>
            <a:pPr algn="l">
              <a:lnSpc>
                <a:spcPts val="4060"/>
              </a:lnSpc>
            </a:pPr>
            <a:r>
              <a:rPr lang="en-US" sz="29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6 - Conclusão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046028" y="2362310"/>
            <a:ext cx="16117421" cy="10666802"/>
          </a:xfrm>
          <a:custGeom>
            <a:avLst/>
            <a:gdLst/>
            <a:ahLst/>
            <a:cxnLst/>
            <a:rect r="r" b="b" t="t" l="l"/>
            <a:pathLst>
              <a:path h="10666802" w="16117421">
                <a:moveTo>
                  <a:pt x="0" y="0"/>
                </a:moveTo>
                <a:lnTo>
                  <a:pt x="16117421" y="0"/>
                </a:lnTo>
                <a:lnTo>
                  <a:pt x="16117421" y="10666803"/>
                </a:lnTo>
                <a:lnTo>
                  <a:pt x="0" y="106668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05061" y="3289983"/>
            <a:ext cx="1240967" cy="1361710"/>
          </a:xfrm>
          <a:custGeom>
            <a:avLst/>
            <a:gdLst/>
            <a:ahLst/>
            <a:cxnLst/>
            <a:rect r="r" b="b" t="t" l="l"/>
            <a:pathLst>
              <a:path h="1361710" w="1240967">
                <a:moveTo>
                  <a:pt x="0" y="0"/>
                </a:moveTo>
                <a:lnTo>
                  <a:pt x="1240967" y="0"/>
                </a:lnTo>
                <a:lnTo>
                  <a:pt x="1240967" y="1361710"/>
                </a:lnTo>
                <a:lnTo>
                  <a:pt x="0" y="13617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09660" y="5464022"/>
            <a:ext cx="12300924" cy="5870201"/>
          </a:xfrm>
          <a:custGeom>
            <a:avLst/>
            <a:gdLst/>
            <a:ahLst/>
            <a:cxnLst/>
            <a:rect r="r" b="b" t="t" l="l"/>
            <a:pathLst>
              <a:path h="5870201" w="12300924">
                <a:moveTo>
                  <a:pt x="0" y="0"/>
                </a:moveTo>
                <a:lnTo>
                  <a:pt x="12300923" y="0"/>
                </a:lnTo>
                <a:lnTo>
                  <a:pt x="12300923" y="5870200"/>
                </a:lnTo>
                <a:lnTo>
                  <a:pt x="0" y="5870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50745" y="9621587"/>
            <a:ext cx="1660777" cy="1469400"/>
            <a:chOff x="0" y="0"/>
            <a:chExt cx="437406" cy="3870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296063" y="9621587"/>
            <a:ext cx="489701" cy="1469400"/>
            <a:chOff x="0" y="0"/>
            <a:chExt cx="128975" cy="3870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550745" y="1574968"/>
            <a:ext cx="6333295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30"/>
              </a:lnSpc>
              <a:spcBef>
                <a:spcPct val="0"/>
              </a:spcBef>
            </a:pPr>
            <a:r>
              <a:rPr lang="en-US" b="true" sz="6500">
                <a:solidFill>
                  <a:srgbClr val="0CC0D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1-INT</a:t>
            </a:r>
            <a:r>
              <a:rPr lang="en-US" b="true" sz="6500">
                <a:solidFill>
                  <a:srgbClr val="0CC0D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RODUÇÃO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50745" y="3576666"/>
            <a:ext cx="7058915" cy="261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8C52FF"/>
                </a:solidFill>
                <a:latin typeface="Proxima Nova"/>
                <a:ea typeface="Proxima Nova"/>
                <a:cs typeface="Proxima Nova"/>
                <a:sym typeface="Proxima Nova"/>
              </a:rPr>
              <a:t>A Lane visa facilitar a descoberta e partilha de eventos próximos, permitindo que os utilizadores possam criar, explorar e participar em eventos de forma simples e intuitiva.</a:t>
            </a:r>
          </a:p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8C52FF"/>
                </a:solidFill>
                <a:latin typeface="Proxima Nova"/>
                <a:ea typeface="Proxima Nova"/>
                <a:cs typeface="Proxima Nova"/>
                <a:sym typeface="Proxima Nova"/>
              </a:rPr>
              <a:t>Na primeira entrega, foram definidos o conceito, público-alvo, arquitetura e mockups base.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246120" y="734700"/>
            <a:ext cx="1013180" cy="1111760"/>
          </a:xfrm>
          <a:custGeom>
            <a:avLst/>
            <a:gdLst/>
            <a:ahLst/>
            <a:cxnLst/>
            <a:rect r="r" b="b" t="t" l="l"/>
            <a:pathLst>
              <a:path h="1111760" w="1013180">
                <a:moveTo>
                  <a:pt x="0" y="0"/>
                </a:moveTo>
                <a:lnTo>
                  <a:pt x="1013180" y="0"/>
                </a:lnTo>
                <a:lnTo>
                  <a:pt x="1013180" y="1111760"/>
                </a:lnTo>
                <a:lnTo>
                  <a:pt x="0" y="1111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0745" y="9621587"/>
            <a:ext cx="1660777" cy="1469400"/>
            <a:chOff x="0" y="0"/>
            <a:chExt cx="437406" cy="3870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296063" y="9621587"/>
            <a:ext cx="489701" cy="1469400"/>
            <a:chOff x="0" y="0"/>
            <a:chExt cx="128975" cy="3870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246120" y="734700"/>
            <a:ext cx="1013180" cy="1111760"/>
          </a:xfrm>
          <a:custGeom>
            <a:avLst/>
            <a:gdLst/>
            <a:ahLst/>
            <a:cxnLst/>
            <a:rect r="r" b="b" t="t" l="l"/>
            <a:pathLst>
              <a:path h="1111760" w="1013180">
                <a:moveTo>
                  <a:pt x="0" y="0"/>
                </a:moveTo>
                <a:lnTo>
                  <a:pt x="1013180" y="0"/>
                </a:lnTo>
                <a:lnTo>
                  <a:pt x="1013180" y="1111760"/>
                </a:lnTo>
                <a:lnTo>
                  <a:pt x="0" y="11117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03412" y="7083426"/>
            <a:ext cx="14742707" cy="2174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 strike="noStrike" u="none">
                <a:solidFill>
                  <a:srgbClr val="8529FB"/>
                </a:solidFill>
                <a:latin typeface="Proxima Nova"/>
                <a:ea typeface="Proxima Nova"/>
                <a:cs typeface="Proxima Nova"/>
                <a:sym typeface="Proxima Nova"/>
              </a:rPr>
              <a:t>Descrição:</a:t>
            </a:r>
          </a:p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 strike="noStrike" u="none">
                <a:solidFill>
                  <a:srgbClr val="8529FB"/>
                </a:solidFill>
                <a:latin typeface="Proxima Nova"/>
                <a:ea typeface="Proxima Nova"/>
                <a:cs typeface="Proxima Nova"/>
                <a:sym typeface="Proxima Nova"/>
              </a:rPr>
              <a:t>A arquitetura segue o modelo Cliente–Servidor, com comunicação via API RESTful.</a:t>
            </a:r>
          </a:p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 strike="noStrike" u="none">
                <a:solidFill>
                  <a:srgbClr val="8529FB"/>
                </a:solidFill>
                <a:latin typeface="Proxima Nova"/>
                <a:ea typeface="Proxima Nova"/>
                <a:cs typeface="Proxima Nova"/>
                <a:sym typeface="Proxima Nova"/>
              </a:rPr>
              <a:t>O backend gere autenticação, eventos e utilizadores, enquanto o frontend apresenta os dados em tempo real através de endpoints.</a:t>
            </a:r>
          </a:p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</a:p>
        </p:txBody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3860796" y="2816224"/>
          <a:ext cx="10566408" cy="4114800"/>
        </p:xfrm>
        <a:graphic>
          <a:graphicData uri="http://schemas.openxmlformats.org/drawingml/2006/table">
            <a:tbl>
              <a:tblPr/>
              <a:tblGrid>
                <a:gridCol w="3707648"/>
                <a:gridCol w="6858759"/>
              </a:tblGrid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>
                          <a:solidFill>
                            <a:srgbClr val="8529FB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Mobile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>
                          <a:solidFill>
                            <a:srgbClr val="8529FB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Android (Kotlin + Jetpack Compose)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>
                          <a:solidFill>
                            <a:srgbClr val="8529FB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Backend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>
                          <a:solidFill>
                            <a:srgbClr val="8529FB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Spring Boot (REST API)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>
                          <a:solidFill>
                            <a:srgbClr val="8529FB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Base de Dados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>
                          <a:solidFill>
                            <a:srgbClr val="8529FB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PostgreSQL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>
                          <a:solidFill>
                            <a:srgbClr val="8529FB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Integrações Externas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>
                          <a:solidFill>
                            <a:srgbClr val="8529FB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Google Maps API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1503412" y="1605031"/>
            <a:ext cx="6997560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30"/>
              </a:lnSpc>
              <a:spcBef>
                <a:spcPct val="0"/>
              </a:spcBef>
            </a:pPr>
            <a:r>
              <a:rPr lang="en-US" b="true" sz="6500">
                <a:solidFill>
                  <a:srgbClr val="0CC0D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2- </a:t>
            </a:r>
            <a:r>
              <a:rPr lang="en-US" b="true" sz="6500">
                <a:solidFill>
                  <a:srgbClr val="0CC0D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ARQUITETURA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52325" y="8739992"/>
            <a:ext cx="7019752" cy="2462111"/>
          </a:xfrm>
          <a:custGeom>
            <a:avLst/>
            <a:gdLst/>
            <a:ahLst/>
            <a:cxnLst/>
            <a:rect r="r" b="b" t="t" l="l"/>
            <a:pathLst>
              <a:path h="2462111" w="7019752">
                <a:moveTo>
                  <a:pt x="0" y="0"/>
                </a:moveTo>
                <a:lnTo>
                  <a:pt x="7019752" y="0"/>
                </a:lnTo>
                <a:lnTo>
                  <a:pt x="7019752" y="2462111"/>
                </a:lnTo>
                <a:lnTo>
                  <a:pt x="0" y="24621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622698" y="9621587"/>
            <a:ext cx="1660777" cy="1469400"/>
            <a:chOff x="0" y="0"/>
            <a:chExt cx="437406" cy="3870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368016" y="9621587"/>
            <a:ext cx="489701" cy="1469400"/>
            <a:chOff x="0" y="0"/>
            <a:chExt cx="128975" cy="3870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1631845"/>
            <a:ext cx="12110257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30"/>
              </a:lnSpc>
              <a:spcBef>
                <a:spcPct val="0"/>
              </a:spcBef>
            </a:pPr>
            <a:r>
              <a:rPr lang="en-US" b="true" sz="6500">
                <a:solidFill>
                  <a:srgbClr val="0CC0D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3- DESENVOLVIMENTO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246120" y="734700"/>
            <a:ext cx="1013180" cy="1111760"/>
          </a:xfrm>
          <a:custGeom>
            <a:avLst/>
            <a:gdLst/>
            <a:ahLst/>
            <a:cxnLst/>
            <a:rect r="r" b="b" t="t" l="l"/>
            <a:pathLst>
              <a:path h="1111760" w="1013180">
                <a:moveTo>
                  <a:pt x="0" y="0"/>
                </a:moveTo>
                <a:lnTo>
                  <a:pt x="1013180" y="0"/>
                </a:lnTo>
                <a:lnTo>
                  <a:pt x="1013180" y="1111760"/>
                </a:lnTo>
                <a:lnTo>
                  <a:pt x="0" y="1111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2760439"/>
            <a:ext cx="15217420" cy="860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8529FB"/>
                </a:solidFill>
                <a:latin typeface="Proxima Nova"/>
                <a:ea typeface="Proxima Nova"/>
                <a:cs typeface="Proxima Nova"/>
                <a:sym typeface="Proxima Nova"/>
              </a:rPr>
              <a:t>Nesta segunda entrega, o foco foi o desenvolvimento do protótipo funcional mínimo, incluindo criação de eventos, login, e integração inicial com APIs externas.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452153"/>
            <a:ext cx="7376968" cy="261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8529FB"/>
                </a:solidFill>
                <a:latin typeface="Proxima Nova"/>
                <a:ea typeface="Proxima Nova"/>
                <a:cs typeface="Proxima Nova"/>
                <a:sym typeface="Proxima Nova"/>
              </a:rPr>
              <a:t>Integração entre frontend e backend</a:t>
            </a:r>
          </a:p>
          <a:p>
            <a:pPr algn="l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8529FB"/>
                </a:solidFill>
                <a:latin typeface="Proxima Nova"/>
                <a:ea typeface="Proxima Nova"/>
                <a:cs typeface="Proxima Nova"/>
                <a:sym typeface="Proxima Nova"/>
              </a:rPr>
              <a:t>Ligação da base de dados PostgreSQL</a:t>
            </a:r>
          </a:p>
          <a:p>
            <a:pPr algn="l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8529FB"/>
                </a:solidFill>
                <a:latin typeface="Proxima Nova"/>
                <a:ea typeface="Proxima Nova"/>
                <a:cs typeface="Proxima Nova"/>
                <a:sym typeface="Proxima Nova"/>
              </a:rPr>
              <a:t>Criação de eventos</a:t>
            </a:r>
          </a:p>
          <a:p>
            <a:pPr algn="l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8529FB"/>
                </a:solidFill>
                <a:latin typeface="Proxima Nova"/>
                <a:ea typeface="Proxima Nova"/>
                <a:cs typeface="Proxima Nova"/>
                <a:sym typeface="Proxima Nova"/>
              </a:rPr>
              <a:t>Implementação do login e registo de utilizadores</a:t>
            </a:r>
          </a:p>
          <a:p>
            <a:pPr algn="l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8529FB"/>
                </a:solidFill>
                <a:latin typeface="Proxima Nova"/>
                <a:ea typeface="Proxima Nova"/>
                <a:cs typeface="Proxima Nova"/>
                <a:sym typeface="Proxima Nova"/>
              </a:rPr>
              <a:t>Planeamento da verificação de perfis</a:t>
            </a:r>
          </a:p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436937" y="5671228"/>
            <a:ext cx="5846538" cy="173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8529FB"/>
                </a:solidFill>
                <a:latin typeface="Proxima Nova"/>
                <a:ea typeface="Proxima Nova"/>
                <a:cs typeface="Proxima Nova"/>
                <a:sym typeface="Proxima Nova"/>
              </a:rPr>
              <a:t>Implementação de tokens JWT</a:t>
            </a:r>
          </a:p>
          <a:p>
            <a:pPr algn="l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8529FB"/>
                </a:solidFill>
                <a:latin typeface="Proxima Nova"/>
                <a:ea typeface="Proxima Nova"/>
                <a:cs typeface="Proxima Nova"/>
                <a:sym typeface="Proxima Nova"/>
              </a:rPr>
              <a:t>Final</a:t>
            </a:r>
            <a:r>
              <a:rPr lang="en-US" sz="2500">
                <a:solidFill>
                  <a:srgbClr val="8529FB"/>
                </a:solidFill>
                <a:latin typeface="Proxima Nova"/>
                <a:ea typeface="Proxima Nova"/>
                <a:cs typeface="Proxima Nova"/>
                <a:sym typeface="Proxima Nova"/>
              </a:rPr>
              <a:t>ização de todos os ecrãs da app</a:t>
            </a:r>
          </a:p>
          <a:p>
            <a:pPr algn="l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8529FB"/>
                </a:solidFill>
                <a:latin typeface="Proxima Nova"/>
                <a:ea typeface="Proxima Nova"/>
                <a:cs typeface="Proxima Nova"/>
                <a:sym typeface="Proxima Nova"/>
              </a:rPr>
              <a:t>Integração completa do mapa</a:t>
            </a:r>
          </a:p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774641" y="4821237"/>
            <a:ext cx="2163430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CC0D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2ª Entrega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12826" y="4912403"/>
            <a:ext cx="2494760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CC0D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3ª Entrega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46120" y="734700"/>
            <a:ext cx="1013180" cy="1111760"/>
          </a:xfrm>
          <a:custGeom>
            <a:avLst/>
            <a:gdLst/>
            <a:ahLst/>
            <a:cxnLst/>
            <a:rect r="r" b="b" t="t" l="l"/>
            <a:pathLst>
              <a:path h="1111760" w="1013180">
                <a:moveTo>
                  <a:pt x="0" y="0"/>
                </a:moveTo>
                <a:lnTo>
                  <a:pt x="1013180" y="0"/>
                </a:lnTo>
                <a:lnTo>
                  <a:pt x="1013180" y="1111760"/>
                </a:lnTo>
                <a:lnTo>
                  <a:pt x="0" y="11117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98597" y="2719632"/>
            <a:ext cx="2995717" cy="6356958"/>
          </a:xfrm>
          <a:custGeom>
            <a:avLst/>
            <a:gdLst/>
            <a:ahLst/>
            <a:cxnLst/>
            <a:rect r="r" b="b" t="t" l="l"/>
            <a:pathLst>
              <a:path h="6356958" w="2995717">
                <a:moveTo>
                  <a:pt x="0" y="0"/>
                </a:moveTo>
                <a:lnTo>
                  <a:pt x="2995717" y="0"/>
                </a:lnTo>
                <a:lnTo>
                  <a:pt x="2995717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79918" y="2719632"/>
            <a:ext cx="3019555" cy="6356958"/>
          </a:xfrm>
          <a:custGeom>
            <a:avLst/>
            <a:gdLst/>
            <a:ahLst/>
            <a:cxnLst/>
            <a:rect r="r" b="b" t="t" l="l"/>
            <a:pathLst>
              <a:path h="6356958" w="3019555">
                <a:moveTo>
                  <a:pt x="0" y="0"/>
                </a:moveTo>
                <a:lnTo>
                  <a:pt x="3019556" y="0"/>
                </a:lnTo>
                <a:lnTo>
                  <a:pt x="3019556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596473" y="2719632"/>
            <a:ext cx="3011609" cy="6356958"/>
          </a:xfrm>
          <a:custGeom>
            <a:avLst/>
            <a:gdLst/>
            <a:ahLst/>
            <a:cxnLst/>
            <a:rect r="r" b="b" t="t" l="l"/>
            <a:pathLst>
              <a:path h="6356958" w="3011609">
                <a:moveTo>
                  <a:pt x="0" y="0"/>
                </a:moveTo>
                <a:lnTo>
                  <a:pt x="3011609" y="0"/>
                </a:lnTo>
                <a:lnTo>
                  <a:pt x="301160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89589" y="2719632"/>
            <a:ext cx="3011609" cy="6356958"/>
          </a:xfrm>
          <a:custGeom>
            <a:avLst/>
            <a:gdLst/>
            <a:ahLst/>
            <a:cxnLst/>
            <a:rect r="r" b="b" t="t" l="l"/>
            <a:pathLst>
              <a:path h="6356958" w="3011609">
                <a:moveTo>
                  <a:pt x="0" y="0"/>
                </a:moveTo>
                <a:lnTo>
                  <a:pt x="3011609" y="0"/>
                </a:lnTo>
                <a:lnTo>
                  <a:pt x="301160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88112" y="1716967"/>
            <a:ext cx="6955888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30"/>
              </a:lnSpc>
              <a:spcBef>
                <a:spcPct val="0"/>
              </a:spcBef>
            </a:pPr>
            <a:r>
              <a:rPr lang="en-US" b="true" sz="6500">
                <a:solidFill>
                  <a:srgbClr val="0CC0D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4- </a:t>
            </a:r>
            <a:r>
              <a:rPr lang="en-US" b="true" sz="6500">
                <a:solidFill>
                  <a:srgbClr val="0CC0D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INTERFACES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84803" y="9100232"/>
            <a:ext cx="2009787" cy="42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8529FB"/>
                </a:solidFill>
                <a:latin typeface="Proxima Nova"/>
                <a:ea typeface="Proxima Nova"/>
                <a:cs typeface="Proxima Nova"/>
                <a:sym typeface="Proxima Nova"/>
              </a:rPr>
              <a:t>Ecrã de Login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44229" y="9100232"/>
            <a:ext cx="2104453" cy="42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8529FB"/>
                </a:solidFill>
                <a:latin typeface="Proxima Nova"/>
                <a:ea typeface="Proxima Nova"/>
                <a:cs typeface="Proxima Nova"/>
                <a:sym typeface="Proxima Nova"/>
              </a:rPr>
              <a:t>Ecrã de Logon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96749" y="9100232"/>
            <a:ext cx="2009787" cy="860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8529FB"/>
                </a:solidFill>
                <a:latin typeface="Proxima Nova"/>
                <a:ea typeface="Proxima Nova"/>
                <a:cs typeface="Proxima Nova"/>
                <a:sym typeface="Proxima Nova"/>
              </a:rPr>
              <a:t>Ecrã principal</a:t>
            </a:r>
          </a:p>
          <a:p>
            <a:pPr algn="ctr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8529FB"/>
                </a:solidFill>
                <a:latin typeface="Proxima Nova"/>
                <a:ea typeface="Proxima Nova"/>
                <a:cs typeface="Proxima Nova"/>
                <a:sym typeface="Proxima Nova"/>
              </a:rPr>
              <a:t>(Mapa)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16166" y="9100232"/>
            <a:ext cx="2972222" cy="42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8529FB"/>
                </a:solidFill>
                <a:latin typeface="Proxima Nova"/>
                <a:ea typeface="Proxima Nova"/>
                <a:cs typeface="Proxima Nova"/>
                <a:sym typeface="Proxima Nova"/>
              </a:rPr>
              <a:t>Ecrã de Criar Evento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94666" y="0"/>
            <a:ext cx="10582896" cy="10582896"/>
          </a:xfrm>
          <a:custGeom>
            <a:avLst/>
            <a:gdLst/>
            <a:ahLst/>
            <a:cxnLst/>
            <a:rect r="r" b="b" t="t" l="l"/>
            <a:pathLst>
              <a:path h="10582896" w="10582896">
                <a:moveTo>
                  <a:pt x="10582896" y="0"/>
                </a:moveTo>
                <a:lnTo>
                  <a:pt x="0" y="0"/>
                </a:lnTo>
                <a:lnTo>
                  <a:pt x="0" y="10582896"/>
                </a:lnTo>
                <a:lnTo>
                  <a:pt x="10582896" y="10582896"/>
                </a:lnTo>
                <a:lnTo>
                  <a:pt x="1058289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46120" y="734700"/>
            <a:ext cx="1013180" cy="1111760"/>
          </a:xfrm>
          <a:custGeom>
            <a:avLst/>
            <a:gdLst/>
            <a:ahLst/>
            <a:cxnLst/>
            <a:rect r="r" b="b" t="t" l="l"/>
            <a:pathLst>
              <a:path h="1111760" w="1013180">
                <a:moveTo>
                  <a:pt x="0" y="0"/>
                </a:moveTo>
                <a:lnTo>
                  <a:pt x="1013180" y="0"/>
                </a:lnTo>
                <a:lnTo>
                  <a:pt x="1013180" y="1111760"/>
                </a:lnTo>
                <a:lnTo>
                  <a:pt x="0" y="1111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64392" y="2611403"/>
            <a:ext cx="9394908" cy="6646897"/>
          </a:xfrm>
          <a:custGeom>
            <a:avLst/>
            <a:gdLst/>
            <a:ahLst/>
            <a:cxnLst/>
            <a:rect r="r" b="b" t="t" l="l"/>
            <a:pathLst>
              <a:path h="6646897" w="9394908">
                <a:moveTo>
                  <a:pt x="0" y="0"/>
                </a:moveTo>
                <a:lnTo>
                  <a:pt x="9394908" y="0"/>
                </a:lnTo>
                <a:lnTo>
                  <a:pt x="9394908" y="6646897"/>
                </a:lnTo>
                <a:lnTo>
                  <a:pt x="0" y="66468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88112" y="1744940"/>
            <a:ext cx="6955888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30"/>
              </a:lnSpc>
              <a:spcBef>
                <a:spcPct val="0"/>
              </a:spcBef>
            </a:pPr>
            <a:r>
              <a:rPr lang="en-US" b="true" sz="6500">
                <a:solidFill>
                  <a:srgbClr val="0CC0D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5- PERSONAS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94666" y="0"/>
            <a:ext cx="10582896" cy="10582896"/>
          </a:xfrm>
          <a:custGeom>
            <a:avLst/>
            <a:gdLst/>
            <a:ahLst/>
            <a:cxnLst/>
            <a:rect r="r" b="b" t="t" l="l"/>
            <a:pathLst>
              <a:path h="10582896" w="10582896">
                <a:moveTo>
                  <a:pt x="10582896" y="0"/>
                </a:moveTo>
                <a:lnTo>
                  <a:pt x="0" y="0"/>
                </a:lnTo>
                <a:lnTo>
                  <a:pt x="0" y="10582896"/>
                </a:lnTo>
                <a:lnTo>
                  <a:pt x="10582896" y="10582896"/>
                </a:lnTo>
                <a:lnTo>
                  <a:pt x="1058289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46120" y="734700"/>
            <a:ext cx="1013180" cy="1111760"/>
          </a:xfrm>
          <a:custGeom>
            <a:avLst/>
            <a:gdLst/>
            <a:ahLst/>
            <a:cxnLst/>
            <a:rect r="r" b="b" t="t" l="l"/>
            <a:pathLst>
              <a:path h="1111760" w="1013180">
                <a:moveTo>
                  <a:pt x="0" y="0"/>
                </a:moveTo>
                <a:lnTo>
                  <a:pt x="1013180" y="0"/>
                </a:lnTo>
                <a:lnTo>
                  <a:pt x="1013180" y="1111760"/>
                </a:lnTo>
                <a:lnTo>
                  <a:pt x="0" y="1111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64392" y="2611403"/>
            <a:ext cx="9394908" cy="6646897"/>
          </a:xfrm>
          <a:custGeom>
            <a:avLst/>
            <a:gdLst/>
            <a:ahLst/>
            <a:cxnLst/>
            <a:rect r="r" b="b" t="t" l="l"/>
            <a:pathLst>
              <a:path h="6646897" w="9394908">
                <a:moveTo>
                  <a:pt x="0" y="0"/>
                </a:moveTo>
                <a:lnTo>
                  <a:pt x="9394908" y="0"/>
                </a:lnTo>
                <a:lnTo>
                  <a:pt x="9394908" y="6646897"/>
                </a:lnTo>
                <a:lnTo>
                  <a:pt x="0" y="66468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88112" y="1744940"/>
            <a:ext cx="6955888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30"/>
              </a:lnSpc>
              <a:spcBef>
                <a:spcPct val="0"/>
              </a:spcBef>
            </a:pPr>
            <a:r>
              <a:rPr lang="en-US" b="true" sz="6500">
                <a:solidFill>
                  <a:srgbClr val="0CC0D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5.1- PERSONAS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547091" y="-4328928"/>
            <a:ext cx="14913856" cy="14913856"/>
          </a:xfrm>
          <a:custGeom>
            <a:avLst/>
            <a:gdLst/>
            <a:ahLst/>
            <a:cxnLst/>
            <a:rect r="r" b="b" t="t" l="l"/>
            <a:pathLst>
              <a:path h="14913856" w="14913856">
                <a:moveTo>
                  <a:pt x="14913856" y="0"/>
                </a:moveTo>
                <a:lnTo>
                  <a:pt x="0" y="0"/>
                </a:lnTo>
                <a:lnTo>
                  <a:pt x="0" y="14913856"/>
                </a:lnTo>
                <a:lnTo>
                  <a:pt x="14913856" y="14913856"/>
                </a:lnTo>
                <a:lnTo>
                  <a:pt x="1491385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879836"/>
            <a:ext cx="6652613" cy="665261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16991022" y="1145136"/>
            <a:ext cx="1660777" cy="1469400"/>
            <a:chOff x="0" y="0"/>
            <a:chExt cx="437406" cy="3870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16416780" y="1145136"/>
            <a:ext cx="489701" cy="1469400"/>
            <a:chOff x="0" y="0"/>
            <a:chExt cx="128975" cy="3870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144000" y="2595486"/>
            <a:ext cx="6955888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30"/>
              </a:lnSpc>
              <a:spcBef>
                <a:spcPct val="0"/>
              </a:spcBef>
            </a:pPr>
            <a:r>
              <a:rPr lang="en-US" b="true" sz="6500">
                <a:solidFill>
                  <a:srgbClr val="0CC0D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6- </a:t>
            </a:r>
            <a:r>
              <a:rPr lang="en-US" b="true" sz="6500">
                <a:solidFill>
                  <a:srgbClr val="0CC0D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CONCLUSÃO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4166824"/>
            <a:ext cx="7338939" cy="4365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865EDD"/>
                </a:solidFill>
                <a:latin typeface="Proxima Nova"/>
                <a:ea typeface="Proxima Nova"/>
                <a:cs typeface="Proxima Nova"/>
                <a:sym typeface="Proxima Nova"/>
              </a:rPr>
              <a:t>O desenvolvimento da</a:t>
            </a:r>
            <a:r>
              <a:rPr lang="en-US" sz="2500" strike="noStrike" u="none">
                <a:solidFill>
                  <a:srgbClr val="865EDD"/>
                </a:solidFill>
                <a:latin typeface="Proxima Nova"/>
                <a:ea typeface="Proxima Nova"/>
                <a:cs typeface="Proxima Nova"/>
                <a:sym typeface="Proxima Nova"/>
              </a:rPr>
              <a:t> Lane encontra-se numa fase sólida, com o MVP funcional e integração entre os principais módulos. A integração total das três camadas foi um marco complexo, mas está agora funcional.</a:t>
            </a:r>
          </a:p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 strike="noStrike" u="none">
                <a:solidFill>
                  <a:srgbClr val="865EDD"/>
                </a:solidFill>
                <a:latin typeface="Proxima Nova"/>
                <a:ea typeface="Proxima Nova"/>
                <a:cs typeface="Proxima Nova"/>
                <a:sym typeface="Proxima Nova"/>
              </a:rPr>
              <a:t>Os próximos passos (3ª entrega) focar-se-ão em implementar a segurança total com tokens JWT, finalizar a lógica de geocoding no backend e desenvolver as restantes funcionalidades sociais, como o ecrã de perfil e a interação com o mapa.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92619" y="-371367"/>
            <a:ext cx="18407038" cy="12182112"/>
          </a:xfrm>
          <a:custGeom>
            <a:avLst/>
            <a:gdLst/>
            <a:ahLst/>
            <a:cxnLst/>
            <a:rect r="r" b="b" t="t" l="l"/>
            <a:pathLst>
              <a:path h="12182112" w="18407038">
                <a:moveTo>
                  <a:pt x="0" y="0"/>
                </a:moveTo>
                <a:lnTo>
                  <a:pt x="18407038" y="0"/>
                </a:lnTo>
                <a:lnTo>
                  <a:pt x="18407038" y="12182112"/>
                </a:lnTo>
                <a:lnTo>
                  <a:pt x="0" y="121821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80213" y="3851597"/>
            <a:ext cx="2354701" cy="2583807"/>
          </a:xfrm>
          <a:custGeom>
            <a:avLst/>
            <a:gdLst/>
            <a:ahLst/>
            <a:cxnLst/>
            <a:rect r="r" b="b" t="t" l="l"/>
            <a:pathLst>
              <a:path h="2583807" w="2354701">
                <a:moveTo>
                  <a:pt x="0" y="0"/>
                </a:moveTo>
                <a:lnTo>
                  <a:pt x="2354701" y="0"/>
                </a:lnTo>
                <a:lnTo>
                  <a:pt x="2354701" y="2583806"/>
                </a:lnTo>
                <a:lnTo>
                  <a:pt x="0" y="25838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91736" y="4281797"/>
            <a:ext cx="6905153" cy="1923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65"/>
              </a:lnSpc>
            </a:pPr>
            <a:r>
              <a:rPr lang="en-US" b="true" sz="13967">
                <a:solidFill>
                  <a:srgbClr val="0CC0D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LANE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69654" y="-734700"/>
            <a:ext cx="1660777" cy="1469400"/>
            <a:chOff x="0" y="0"/>
            <a:chExt cx="437406" cy="3870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7406" cy="387002"/>
            </a:xfrm>
            <a:custGeom>
              <a:avLst/>
              <a:gdLst/>
              <a:ahLst/>
              <a:cxnLst/>
              <a:rect r="r" b="b" t="t" l="l"/>
              <a:pathLst>
                <a:path h="387002" w="437406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414973" y="-734700"/>
            <a:ext cx="489701" cy="1469400"/>
            <a:chOff x="0" y="0"/>
            <a:chExt cx="128975" cy="3870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975" cy="387002"/>
            </a:xfrm>
            <a:custGeom>
              <a:avLst/>
              <a:gdLst/>
              <a:ahLst/>
              <a:cxnLst/>
              <a:rect r="r" b="b" t="t" l="l"/>
              <a:pathLst>
                <a:path h="387002" w="128975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5400000">
            <a:off x="-2390642" y="7137006"/>
            <a:ext cx="6062923" cy="6038007"/>
          </a:xfrm>
          <a:custGeom>
            <a:avLst/>
            <a:gdLst/>
            <a:ahLst/>
            <a:cxnLst/>
            <a:rect r="r" b="b" t="t" l="l"/>
            <a:pathLst>
              <a:path h="6038007" w="6062923">
                <a:moveTo>
                  <a:pt x="6062923" y="0"/>
                </a:moveTo>
                <a:lnTo>
                  <a:pt x="0" y="0"/>
                </a:lnTo>
                <a:lnTo>
                  <a:pt x="0" y="6038007"/>
                </a:lnTo>
                <a:lnTo>
                  <a:pt x="6062923" y="6038007"/>
                </a:lnTo>
                <a:lnTo>
                  <a:pt x="606292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DAG4OOnFEL0</dc:identifier>
  <dcterms:modified xsi:type="dcterms:W3CDTF">2011-08-01T06:04:30Z</dcterms:modified>
  <cp:revision>1</cp:revision>
  <dc:title>1 - Introdução 2 - Arquitetura 3 - Tecnologias Utilizadas 4 - Conclusão 5 - Elementos do Grupo</dc:title>
</cp:coreProperties>
</file>